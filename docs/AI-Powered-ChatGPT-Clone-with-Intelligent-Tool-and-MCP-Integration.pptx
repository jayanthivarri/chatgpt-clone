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Libre Baskerville" panose="02000000000000000000" pitchFamily="2" charset="0"/>
      <p:regular r:id="rId8"/>
    </p:embeddedFont>
    <p:embeddedFont>
      <p:font typeface="Open Sans" panose="020B0606030504020204" pitchFamily="34" charset="0"/>
      <p:regular r:id="rId9"/>
    </p:embeddedFont>
    <p:embeddedFont>
      <p:font typeface="Open Sans 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670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6037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AI-Powered ChatGPT Clone with Intelligent Tool &amp; MCP Integration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939156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620092" y="2063130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Conversational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0092" y="2331393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Multi-session chat with persistent memory and context awareness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33987" y="1939156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4757961" y="2063130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Integrated Tools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7961" y="2331393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search, weather, time, calculator — all in one interface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2976265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620092" y="3100239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MCP 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0092" y="3368501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Standardized, extensible tool integration via Model Context Protocol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33987" y="2976265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4757961" y="3100239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Full-Stack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7961" y="3368501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+ FastAPI + LangGraph — production-ready deployment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7519" y="4028926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6366F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Project Evaluation 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0371"/>
            <a:ext cx="8151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&amp; Use Case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0989" y="1008831"/>
            <a:ext cx="4101926" cy="3664297"/>
          </a:xfrm>
          <a:prstGeom prst="roundRect">
            <a:avLst>
              <a:gd name="adj" fmla="val 484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29158" y="1121494"/>
            <a:ext cx="386558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Challenge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435" y="1438796"/>
            <a:ext cx="177329" cy="1773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3284" y="1432917"/>
            <a:ext cx="3481462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switch between multiple applications for different tasks — search, weather, calculations, and chat are all siloed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435" y="2033513"/>
            <a:ext cx="177329" cy="1773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3284" y="2027634"/>
            <a:ext cx="3481462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chatbots lack real-time information and external tool access, limiting their practical utility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435" y="2628230"/>
            <a:ext cx="177329" cy="1773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3284" y="2622352"/>
            <a:ext cx="3481462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 and information must be repeatedly provided across sessions, creating friction and inefficiency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435" y="3222947"/>
            <a:ext cx="177329" cy="17732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3284" y="3217069"/>
            <a:ext cx="3481462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unified conversational interface exists that integrates live data, tools, and persistent memory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4720977" y="1121494"/>
            <a:ext cx="393166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 Users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4720977" y="1432917"/>
            <a:ext cx="1909465" cy="1301055"/>
          </a:xfrm>
          <a:prstGeom prst="roundRect">
            <a:avLst>
              <a:gd name="adj" fmla="val 1363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853434" y="1565374"/>
            <a:ext cx="1644551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Students &amp; Professionals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4853434" y="2047429"/>
            <a:ext cx="1644551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Research, calculations, and real-time lookups in a single session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6743105" y="1432917"/>
            <a:ext cx="1909539" cy="1301055"/>
          </a:xfrm>
          <a:prstGeom prst="roundRect">
            <a:avLst>
              <a:gd name="adj" fmla="val 1363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875562" y="1565374"/>
            <a:ext cx="1644625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Businesses &amp; Support Teams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875562" y="2047429"/>
            <a:ext cx="1644625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responses with live data and integrated knowledge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720977" y="2846636"/>
            <a:ext cx="3931667" cy="746968"/>
          </a:xfrm>
          <a:prstGeom prst="roundRect">
            <a:avLst>
              <a:gd name="adj" fmla="val 2374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853434" y="2979093"/>
            <a:ext cx="366675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Organizations &amp; General Users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853434" y="3276451"/>
            <a:ext cx="366675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Accessible AI assistant with extensible, role-aware capabilities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720977" y="3720331"/>
            <a:ext cx="393166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Our Solution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720977" y="4017690"/>
            <a:ext cx="3931667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r>
              <a:rPr lang="en-US" sz="900" b="1" dirty="0">
                <a:solidFill>
                  <a:srgbClr val="6366F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single AI assistant</a:t>
            </a: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combining conversational AI with web search, weather, time, calculations, and personalized memory — all accessible through a natural language interface for seamless task execution.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47315"/>
            <a:ext cx="815176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End-to-End Request Flow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797" y="690711"/>
            <a:ext cx="6298332" cy="43404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0542" y="3391478"/>
            <a:ext cx="1721164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47219" y="1568799"/>
            <a:ext cx="1777080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40176" y="3925289"/>
            <a:ext cx="1721164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7990" y="1819337"/>
            <a:ext cx="1721164" cy="45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LangGraph Workflow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5096917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Full-Stack Architecture</a:t>
            </a:r>
            <a:endParaRPr lang="en-US" sz="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5228630"/>
            <a:ext cx="1984623" cy="3452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5730" y="5300142"/>
            <a:ext cx="1803499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605730" y="5427985"/>
            <a:ext cx="180349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+ Vite for a responsive, fast-loading conversational UI</a:t>
            </a:r>
            <a:endParaRPr lang="en-US" sz="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1698" y="5228630"/>
            <a:ext cx="1984697" cy="3452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21310" y="5300142"/>
            <a:ext cx="180357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</a:t>
            </a:r>
            <a:endParaRPr lang="en-US" sz="600" dirty="0"/>
          </a:p>
        </p:txBody>
      </p:sp>
      <p:sp>
        <p:nvSpPr>
          <p:cNvPr id="15" name="Text 10"/>
          <p:cNvSpPr/>
          <p:nvPr/>
        </p:nvSpPr>
        <p:spPr>
          <a:xfrm>
            <a:off x="2621310" y="5427985"/>
            <a:ext cx="180357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 for high-performance, async API serving</a:t>
            </a:r>
            <a:endParaRPr lang="en-US" sz="4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5604793"/>
            <a:ext cx="1984623" cy="34520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5730" y="5676305"/>
            <a:ext cx="1803499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Orchestration</a:t>
            </a:r>
            <a:endParaRPr lang="en-US" sz="600" dirty="0"/>
          </a:p>
        </p:txBody>
      </p:sp>
      <p:sp>
        <p:nvSpPr>
          <p:cNvPr id="18" name="Text 12"/>
          <p:cNvSpPr/>
          <p:nvPr/>
        </p:nvSpPr>
        <p:spPr>
          <a:xfrm>
            <a:off x="605730" y="5804148"/>
            <a:ext cx="180349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LangGraph for intelligent, stateful workflow management</a:t>
            </a:r>
            <a:endParaRPr lang="en-US" sz="4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1698" y="5604793"/>
            <a:ext cx="1984697" cy="34520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621310" y="5676305"/>
            <a:ext cx="180357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Integration</a:t>
            </a:r>
            <a:endParaRPr lang="en-US" sz="600" dirty="0"/>
          </a:p>
        </p:txBody>
      </p:sp>
      <p:sp>
        <p:nvSpPr>
          <p:cNvPr id="21" name="Text 14"/>
          <p:cNvSpPr/>
          <p:nvPr/>
        </p:nvSpPr>
        <p:spPr>
          <a:xfrm>
            <a:off x="2621310" y="5804148"/>
            <a:ext cx="180357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MCP server for standardized, extensible tool integration</a:t>
            </a:r>
            <a:endParaRPr lang="en-US" sz="450" dirty="0"/>
          </a:p>
        </p:txBody>
      </p:sp>
      <p:sp>
        <p:nvSpPr>
          <p:cNvPr id="22" name="Text 15"/>
          <p:cNvSpPr/>
          <p:nvPr/>
        </p:nvSpPr>
        <p:spPr>
          <a:xfrm>
            <a:off x="4652367" y="5096917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Core Capabilities</a:t>
            </a:r>
            <a:endParaRPr lang="en-US" sz="600" dirty="0"/>
          </a:p>
        </p:txBody>
      </p:sp>
      <p:sp>
        <p:nvSpPr>
          <p:cNvPr id="23" name="Shape 16"/>
          <p:cNvSpPr/>
          <p:nvPr/>
        </p:nvSpPr>
        <p:spPr>
          <a:xfrm>
            <a:off x="4652367" y="5228630"/>
            <a:ext cx="1984623" cy="543148"/>
          </a:xfrm>
          <a:prstGeom prst="roundRect">
            <a:avLst>
              <a:gd name="adj" fmla="val 1713"/>
            </a:avLst>
          </a:prstGeom>
          <a:solidFill>
            <a:srgbClr val="EAE8F3"/>
          </a:solidFill>
          <a:ln/>
        </p:spPr>
      </p:sp>
      <p:sp>
        <p:nvSpPr>
          <p:cNvPr id="24" name="Shape 17"/>
          <p:cNvSpPr/>
          <p:nvPr/>
        </p:nvSpPr>
        <p:spPr>
          <a:xfrm>
            <a:off x="4714354" y="5290617"/>
            <a:ext cx="186035" cy="186035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5477" y="5341739"/>
            <a:ext cx="83716" cy="8371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14354" y="5507608"/>
            <a:ext cx="1860649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Multi-Session Chat</a:t>
            </a:r>
            <a:endParaRPr lang="en-US" sz="600" dirty="0"/>
          </a:p>
        </p:txBody>
      </p:sp>
      <p:sp>
        <p:nvSpPr>
          <p:cNvPr id="27" name="Text 19"/>
          <p:cNvSpPr/>
          <p:nvPr/>
        </p:nvSpPr>
        <p:spPr>
          <a:xfrm>
            <a:off x="4714354" y="5635451"/>
            <a:ext cx="186064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Persistent conversation history across sessions</a:t>
            </a:r>
            <a:endParaRPr lang="en-US" sz="450" dirty="0"/>
          </a:p>
        </p:txBody>
      </p:sp>
      <p:sp>
        <p:nvSpPr>
          <p:cNvPr id="28" name="Shape 20"/>
          <p:cNvSpPr/>
          <p:nvPr/>
        </p:nvSpPr>
        <p:spPr>
          <a:xfrm>
            <a:off x="6667946" y="5228630"/>
            <a:ext cx="1984697" cy="543148"/>
          </a:xfrm>
          <a:prstGeom prst="roundRect">
            <a:avLst>
              <a:gd name="adj" fmla="val 1713"/>
            </a:avLst>
          </a:prstGeom>
          <a:solidFill>
            <a:srgbClr val="EAE8F3"/>
          </a:solidFill>
          <a:ln/>
        </p:spPr>
      </p:sp>
      <p:sp>
        <p:nvSpPr>
          <p:cNvPr id="29" name="Shape 21"/>
          <p:cNvSpPr/>
          <p:nvPr/>
        </p:nvSpPr>
        <p:spPr>
          <a:xfrm>
            <a:off x="6729933" y="5290617"/>
            <a:ext cx="186035" cy="186035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1056" y="5341739"/>
            <a:ext cx="83716" cy="8371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729933" y="5507608"/>
            <a:ext cx="186072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Web Search</a:t>
            </a:r>
            <a:endParaRPr lang="en-US" sz="600" dirty="0"/>
          </a:p>
        </p:txBody>
      </p:sp>
      <p:sp>
        <p:nvSpPr>
          <p:cNvPr id="32" name="Text 23"/>
          <p:cNvSpPr/>
          <p:nvPr/>
        </p:nvSpPr>
        <p:spPr>
          <a:xfrm>
            <a:off x="6729933" y="5635451"/>
            <a:ext cx="186072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results via SerpAPI integration</a:t>
            </a:r>
            <a:endParaRPr lang="en-US" sz="450" dirty="0"/>
          </a:p>
        </p:txBody>
      </p:sp>
      <p:sp>
        <p:nvSpPr>
          <p:cNvPr id="33" name="Shape 24"/>
          <p:cNvSpPr/>
          <p:nvPr/>
        </p:nvSpPr>
        <p:spPr>
          <a:xfrm>
            <a:off x="4652367" y="5802734"/>
            <a:ext cx="1984623" cy="543148"/>
          </a:xfrm>
          <a:prstGeom prst="roundRect">
            <a:avLst>
              <a:gd name="adj" fmla="val 1713"/>
            </a:avLst>
          </a:prstGeom>
          <a:solidFill>
            <a:srgbClr val="EAE8F3"/>
          </a:solidFill>
          <a:ln/>
        </p:spPr>
      </p:sp>
      <p:sp>
        <p:nvSpPr>
          <p:cNvPr id="34" name="Shape 25"/>
          <p:cNvSpPr/>
          <p:nvPr/>
        </p:nvSpPr>
        <p:spPr>
          <a:xfrm>
            <a:off x="4714354" y="5864721"/>
            <a:ext cx="186035" cy="186035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5477" y="5915844"/>
            <a:ext cx="83716" cy="8371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714354" y="6081713"/>
            <a:ext cx="1860649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Memory</a:t>
            </a:r>
            <a:endParaRPr lang="en-US" sz="600" dirty="0"/>
          </a:p>
        </p:txBody>
      </p:sp>
      <p:sp>
        <p:nvSpPr>
          <p:cNvPr id="37" name="Text 27"/>
          <p:cNvSpPr/>
          <p:nvPr/>
        </p:nvSpPr>
        <p:spPr>
          <a:xfrm>
            <a:off x="4714354" y="6209556"/>
            <a:ext cx="186064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context retained across conversations</a:t>
            </a:r>
            <a:endParaRPr lang="en-US" sz="450" dirty="0"/>
          </a:p>
        </p:txBody>
      </p:sp>
      <p:sp>
        <p:nvSpPr>
          <p:cNvPr id="38" name="Shape 28"/>
          <p:cNvSpPr/>
          <p:nvPr/>
        </p:nvSpPr>
        <p:spPr>
          <a:xfrm>
            <a:off x="6667946" y="5802734"/>
            <a:ext cx="1984697" cy="543148"/>
          </a:xfrm>
          <a:prstGeom prst="roundRect">
            <a:avLst>
              <a:gd name="adj" fmla="val 1713"/>
            </a:avLst>
          </a:prstGeom>
          <a:solidFill>
            <a:srgbClr val="EAE8F3"/>
          </a:solidFill>
          <a:ln/>
        </p:spPr>
      </p:sp>
      <p:sp>
        <p:nvSpPr>
          <p:cNvPr id="39" name="Shape 29"/>
          <p:cNvSpPr/>
          <p:nvPr/>
        </p:nvSpPr>
        <p:spPr>
          <a:xfrm>
            <a:off x="6729933" y="5864721"/>
            <a:ext cx="186035" cy="186035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1056" y="5915844"/>
            <a:ext cx="83716" cy="8371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729933" y="6081713"/>
            <a:ext cx="186072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Tool Suite</a:t>
            </a:r>
            <a:endParaRPr lang="en-US" sz="600" dirty="0"/>
          </a:p>
        </p:txBody>
      </p:sp>
      <p:sp>
        <p:nvSpPr>
          <p:cNvPr id="42" name="Text 31"/>
          <p:cNvSpPr/>
          <p:nvPr/>
        </p:nvSpPr>
        <p:spPr>
          <a:xfrm>
            <a:off x="6729933" y="6209556"/>
            <a:ext cx="186072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Weather, time, calculator — extensible via MCP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Architecture &amp;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612428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496119" y="744141"/>
            <a:ext cx="4000277" cy="759768"/>
          </a:xfrm>
          <a:prstGeom prst="roundRect">
            <a:avLst>
              <a:gd name="adj" fmla="val 122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872356"/>
            <a:ext cx="4000277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998190"/>
            <a:ext cx="4000277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1124024"/>
            <a:ext cx="4000277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1249859"/>
            <a:ext cx="4000277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1375693"/>
            <a:ext cx="4000277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2942" y="772269"/>
            <a:ext cx="145062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Layer</a:t>
            </a:r>
            <a:endParaRPr lang="en-US" sz="450" dirty="0"/>
          </a:p>
        </p:txBody>
      </p:sp>
      <p:sp>
        <p:nvSpPr>
          <p:cNvPr id="11" name="Text 9"/>
          <p:cNvSpPr/>
          <p:nvPr/>
        </p:nvSpPr>
        <p:spPr>
          <a:xfrm>
            <a:off x="1680344" y="772269"/>
            <a:ext cx="320650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Technologies</a:t>
            </a:r>
            <a:endParaRPr lang="en-US" sz="450" dirty="0"/>
          </a:p>
        </p:txBody>
      </p:sp>
      <p:sp>
        <p:nvSpPr>
          <p:cNvPr id="12" name="Text 10"/>
          <p:cNvSpPr/>
          <p:nvPr/>
        </p:nvSpPr>
        <p:spPr>
          <a:xfrm>
            <a:off x="562942" y="898103"/>
            <a:ext cx="145062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6366F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Frontend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1680344" y="898103"/>
            <a:ext cx="320650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React.js, Vite, JavaScript, CSS, Axios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562942" y="1023938"/>
            <a:ext cx="145062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6366F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Backend</a:t>
            </a:r>
            <a:endParaRPr lang="en-US" sz="450" dirty="0"/>
          </a:p>
        </p:txBody>
      </p:sp>
      <p:sp>
        <p:nvSpPr>
          <p:cNvPr id="15" name="Text 13"/>
          <p:cNvSpPr/>
          <p:nvPr/>
        </p:nvSpPr>
        <p:spPr>
          <a:xfrm>
            <a:off x="1680344" y="1023938"/>
            <a:ext cx="320650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Python, FastAPI, Uvicorn, SQLAlchemy, SQLite</a:t>
            </a:r>
            <a:endParaRPr lang="en-US" sz="450" dirty="0"/>
          </a:p>
        </p:txBody>
      </p:sp>
      <p:sp>
        <p:nvSpPr>
          <p:cNvPr id="16" name="Text 14"/>
          <p:cNvSpPr/>
          <p:nvPr/>
        </p:nvSpPr>
        <p:spPr>
          <a:xfrm>
            <a:off x="562942" y="1149772"/>
            <a:ext cx="145062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8B5CF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AI / Agent</a:t>
            </a:r>
            <a:endParaRPr lang="en-US" sz="450" dirty="0"/>
          </a:p>
        </p:txBody>
      </p:sp>
      <p:sp>
        <p:nvSpPr>
          <p:cNvPr id="17" name="Text 15"/>
          <p:cNvSpPr/>
          <p:nvPr/>
        </p:nvSpPr>
        <p:spPr>
          <a:xfrm>
            <a:off x="1680344" y="1149772"/>
            <a:ext cx="320650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LLM, LangGraph, OpenRouter</a:t>
            </a:r>
            <a:endParaRPr lang="en-US" sz="450" dirty="0"/>
          </a:p>
        </p:txBody>
      </p:sp>
      <p:sp>
        <p:nvSpPr>
          <p:cNvPr id="18" name="Text 16"/>
          <p:cNvSpPr/>
          <p:nvPr/>
        </p:nvSpPr>
        <p:spPr>
          <a:xfrm>
            <a:off x="562942" y="1275606"/>
            <a:ext cx="145062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8B5CF6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Tools</a:t>
            </a:r>
            <a:endParaRPr lang="en-US" sz="450" dirty="0"/>
          </a:p>
        </p:txBody>
      </p:sp>
      <p:sp>
        <p:nvSpPr>
          <p:cNvPr id="19" name="Text 17"/>
          <p:cNvSpPr/>
          <p:nvPr/>
        </p:nvSpPr>
        <p:spPr>
          <a:xfrm>
            <a:off x="1680344" y="1275606"/>
            <a:ext cx="320650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SerpAPI, Weather, Calculator, Time, Memory, MCP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562942" y="1401440"/>
            <a:ext cx="145062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6366F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Deployment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1680344" y="1401440"/>
            <a:ext cx="3206502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Docker, Git, GitHub, Render</a:t>
            </a:r>
            <a:endParaRPr lang="en-US" sz="450" dirty="0"/>
          </a:p>
        </p:txBody>
      </p:sp>
      <p:sp>
        <p:nvSpPr>
          <p:cNvPr id="22" name="Text 20"/>
          <p:cNvSpPr/>
          <p:nvPr/>
        </p:nvSpPr>
        <p:spPr>
          <a:xfrm>
            <a:off x="4652367" y="612428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Architectural Components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652367" y="744141"/>
            <a:ext cx="139526" cy="139526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4" name="Text 22"/>
          <p:cNvSpPr/>
          <p:nvPr/>
        </p:nvSpPr>
        <p:spPr>
          <a:xfrm>
            <a:off x="4675584" y="755749"/>
            <a:ext cx="93018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822850" y="765423"/>
            <a:ext cx="382979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LangGraph Agent Workflow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822850" y="893266"/>
            <a:ext cx="382979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Stateful, graph-based orchestration for intelligent routing of user requests to the appropriate tool or LLM response path</a:t>
            </a:r>
            <a:endParaRPr lang="en-US" sz="450" dirty="0"/>
          </a:p>
        </p:txBody>
      </p:sp>
      <p:sp>
        <p:nvSpPr>
          <p:cNvPr id="27" name="Shape 25"/>
          <p:cNvSpPr/>
          <p:nvPr/>
        </p:nvSpPr>
        <p:spPr>
          <a:xfrm>
            <a:off x="4652367" y="1029593"/>
            <a:ext cx="139526" cy="139526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8" name="Text 26"/>
          <p:cNvSpPr/>
          <p:nvPr/>
        </p:nvSpPr>
        <p:spPr>
          <a:xfrm>
            <a:off x="4675584" y="1041202"/>
            <a:ext cx="93018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22850" y="1050875"/>
            <a:ext cx="3829794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MCP Client </a:t>
            </a:r>
            <a:r>
              <a:rPr lang="en-US" sz="6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↔</a:t>
            </a: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MCP Server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822850" y="1183481"/>
            <a:ext cx="382979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Model Context Protocol bridge enabling modular, plug-and-play tool integration without core system changes</a:t>
            </a:r>
            <a:endParaRPr lang="en-US" sz="450" dirty="0"/>
          </a:p>
        </p:txBody>
      </p:sp>
      <p:sp>
        <p:nvSpPr>
          <p:cNvPr id="31" name="Shape 29"/>
          <p:cNvSpPr/>
          <p:nvPr/>
        </p:nvSpPr>
        <p:spPr>
          <a:xfrm>
            <a:off x="4652367" y="1319808"/>
            <a:ext cx="139526" cy="139526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32" name="Text 30"/>
          <p:cNvSpPr/>
          <p:nvPr/>
        </p:nvSpPr>
        <p:spPr>
          <a:xfrm>
            <a:off x="4675584" y="1331416"/>
            <a:ext cx="93018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22850" y="1341090"/>
            <a:ext cx="382979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Layer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822850" y="1468934"/>
            <a:ext cx="382979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SQLAlchemy-managed schema covering users, chat sessions, messages, and feedback for full data persistence</a:t>
            </a:r>
            <a:endParaRPr lang="en-US" sz="450" dirty="0"/>
          </a:p>
        </p:txBody>
      </p:sp>
      <p:sp>
        <p:nvSpPr>
          <p:cNvPr id="35" name="Shape 33"/>
          <p:cNvSpPr/>
          <p:nvPr/>
        </p:nvSpPr>
        <p:spPr>
          <a:xfrm>
            <a:off x="4652367" y="1605260"/>
            <a:ext cx="139526" cy="139526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36" name="Text 34"/>
          <p:cNvSpPr/>
          <p:nvPr/>
        </p:nvSpPr>
        <p:spPr>
          <a:xfrm>
            <a:off x="4675584" y="1616869"/>
            <a:ext cx="93018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822850" y="1626543"/>
            <a:ext cx="382979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Dynamic Tool Router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822850" y="1754386"/>
            <a:ext cx="382979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Runtime capability selection — the agent identifies and invokes the correct tool based on natural language intent</a:t>
            </a:r>
            <a:endParaRPr lang="en-US" sz="45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03" y="2046848"/>
            <a:ext cx="6480050" cy="28487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0433"/>
            <a:ext cx="8151763" cy="2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Expected Value &amp; Future Scope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430560" y="755377"/>
            <a:ext cx="4095899" cy="4017690"/>
          </a:xfrm>
          <a:prstGeom prst="roundRect">
            <a:avLst>
              <a:gd name="adj" fmla="val 340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21643" y="822275"/>
            <a:ext cx="3913733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Immediate Benefits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799" y="1089645"/>
            <a:ext cx="136624" cy="136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7662" y="1039788"/>
            <a:ext cx="3617714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One interface</a:t>
            </a: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multiple tasks — search, weather, time, calculations, and conversation unified in a single session</a:t>
            </a:r>
            <a:endParaRPr lang="en-US" sz="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799" y="1501229"/>
            <a:ext cx="136624" cy="136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7662" y="1451372"/>
            <a:ext cx="3617714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Reduced context switching</a:t>
            </a: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between applications, lowering cognitive load and improving productivity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799" y="1912813"/>
            <a:ext cx="136624" cy="1366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7662" y="1862956"/>
            <a:ext cx="3617714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Faster information retrieval</a:t>
            </a: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integrated real-time tools responding within the conversational flow</a:t>
            </a:r>
            <a:endParaRPr lang="en-US" sz="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799" y="2324398"/>
            <a:ext cx="136624" cy="1366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7662" y="2274540"/>
            <a:ext cx="3617714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Personalized conversations</a:t>
            </a: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through persistent user memory that retains preferences and prior context</a:t>
            </a:r>
            <a:endParaRPr lang="en-US" sz="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799" y="2735982"/>
            <a:ext cx="136624" cy="1366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7662" y="2686124"/>
            <a:ext cx="3617714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Extensible architecture</a:t>
            </a: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new AI tools can be added via MCP without restructuring the core system</a:t>
            </a:r>
            <a:endParaRPr lang="en-US" sz="700" dirty="0"/>
          </a:p>
        </p:txBody>
      </p:sp>
      <p:sp>
        <p:nvSpPr>
          <p:cNvPr id="15" name="Text 8"/>
          <p:cNvSpPr/>
          <p:nvPr/>
        </p:nvSpPr>
        <p:spPr>
          <a:xfrm>
            <a:off x="4687863" y="822275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Enhancements</a:t>
            </a:r>
            <a:endParaRPr lang="en-US" sz="8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7863" y="1096566"/>
            <a:ext cx="91083" cy="91083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4687863" y="1185044"/>
            <a:ext cx="3964781" cy="9525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8" name="Text 10"/>
          <p:cNvSpPr/>
          <p:nvPr/>
        </p:nvSpPr>
        <p:spPr>
          <a:xfrm>
            <a:off x="4687863" y="1249635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Additional MCP Integrations</a:t>
            </a:r>
            <a:endParaRPr lang="en-US" sz="850" dirty="0"/>
          </a:p>
        </p:txBody>
      </p:sp>
      <p:sp>
        <p:nvSpPr>
          <p:cNvPr id="19" name="Text 11"/>
          <p:cNvSpPr/>
          <p:nvPr/>
        </p:nvSpPr>
        <p:spPr>
          <a:xfrm>
            <a:off x="4687863" y="1458813"/>
            <a:ext cx="3964781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the tool ecosystem with new MCP server connections for broader capability coverage</a:t>
            </a:r>
            <a:endParaRPr lang="en-US" sz="7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7863" y="1759000"/>
            <a:ext cx="91083" cy="91083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687863" y="1856556"/>
            <a:ext cx="3964781" cy="9525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22" name="Text 13"/>
          <p:cNvSpPr/>
          <p:nvPr/>
        </p:nvSpPr>
        <p:spPr>
          <a:xfrm>
            <a:off x="4687863" y="1930226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Enterprise Knowledge Base</a:t>
            </a:r>
            <a:endParaRPr lang="en-US" sz="850" dirty="0"/>
          </a:p>
        </p:txBody>
      </p:sp>
      <p:sp>
        <p:nvSpPr>
          <p:cNvPr id="23" name="Text 14"/>
          <p:cNvSpPr/>
          <p:nvPr/>
        </p:nvSpPr>
        <p:spPr>
          <a:xfrm>
            <a:off x="4687863" y="2139404"/>
            <a:ext cx="3964781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organizational documents and internal data sources for domain-specific intelligence</a:t>
            </a:r>
            <a:endParaRPr lang="en-US" sz="7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7863" y="2421434"/>
            <a:ext cx="91083" cy="91083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4687863" y="2528069"/>
            <a:ext cx="3964781" cy="9525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26" name="Text 16"/>
          <p:cNvSpPr/>
          <p:nvPr/>
        </p:nvSpPr>
        <p:spPr>
          <a:xfrm>
            <a:off x="4687863" y="2610817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Voice-Based Interaction</a:t>
            </a:r>
            <a:endParaRPr lang="en-US" sz="850" dirty="0"/>
          </a:p>
        </p:txBody>
      </p:sp>
      <p:sp>
        <p:nvSpPr>
          <p:cNvPr id="27" name="Text 17"/>
          <p:cNvSpPr/>
          <p:nvPr/>
        </p:nvSpPr>
        <p:spPr>
          <a:xfrm>
            <a:off x="4687863" y="2819995"/>
            <a:ext cx="3964781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Speech-to-text and text-to-speech for hands-free, accessible conversational AI</a:t>
            </a:r>
            <a:endParaRPr lang="en-US" sz="7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7863" y="3083868"/>
            <a:ext cx="91083" cy="91083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4687863" y="3199581"/>
            <a:ext cx="3964781" cy="9525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30" name="Text 19"/>
          <p:cNvSpPr/>
          <p:nvPr/>
        </p:nvSpPr>
        <p:spPr>
          <a:xfrm>
            <a:off x="4687863" y="3291408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Advanced Personalization &amp; RBAC</a:t>
            </a:r>
            <a:endParaRPr lang="en-US" sz="850" dirty="0"/>
          </a:p>
        </p:txBody>
      </p:sp>
      <p:sp>
        <p:nvSpPr>
          <p:cNvPr id="31" name="Text 20"/>
          <p:cNvSpPr/>
          <p:nvPr/>
        </p:nvSpPr>
        <p:spPr>
          <a:xfrm>
            <a:off x="4687863" y="3500586"/>
            <a:ext cx="3964781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Role-based access control and user-specific AI behavior for enterprise deployments</a:t>
            </a:r>
            <a:endParaRPr lang="en-US" sz="7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7863" y="3746302"/>
            <a:ext cx="91083" cy="91083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4687863" y="3871094"/>
            <a:ext cx="3964781" cy="9525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34" name="Text 22"/>
          <p:cNvSpPr/>
          <p:nvPr/>
        </p:nvSpPr>
        <p:spPr>
          <a:xfrm>
            <a:off x="4687863" y="3971999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Analytics &amp; Enterprise Scale</a:t>
            </a:r>
            <a:endParaRPr lang="en-US" sz="850" dirty="0"/>
          </a:p>
        </p:txBody>
      </p:sp>
      <p:sp>
        <p:nvSpPr>
          <p:cNvPr id="35" name="Text 23"/>
          <p:cNvSpPr/>
          <p:nvPr/>
        </p:nvSpPr>
        <p:spPr>
          <a:xfrm>
            <a:off x="4687863" y="4181177"/>
            <a:ext cx="3964781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Usage dashboards, monitoring, and infrastructure scaling for organizational adoption</a:t>
            </a:r>
            <a:endParaRPr lang="en-US" sz="700" dirty="0"/>
          </a:p>
        </p:txBody>
      </p:sp>
      <p:sp>
        <p:nvSpPr>
          <p:cNvPr id="36" name="Text 24"/>
          <p:cNvSpPr/>
          <p:nvPr/>
        </p:nvSpPr>
        <p:spPr>
          <a:xfrm>
            <a:off x="4824487" y="4511278"/>
            <a:ext cx="4285357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Vision:</a:t>
            </a: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 a simple chatbot to an extensible AI assistant platform.</a:t>
            </a:r>
            <a:endParaRPr lang="en-US" sz="700" dirty="0"/>
          </a:p>
        </p:txBody>
      </p:sp>
      <p:sp>
        <p:nvSpPr>
          <p:cNvPr id="37" name="Shape 25"/>
          <p:cNvSpPr/>
          <p:nvPr/>
        </p:nvSpPr>
        <p:spPr>
          <a:xfrm>
            <a:off x="4687863" y="4405685"/>
            <a:ext cx="9525" cy="246757"/>
          </a:xfrm>
          <a:prstGeom prst="roundRect">
            <a:avLst>
              <a:gd name="adj" fmla="val 50000"/>
            </a:avLst>
          </a:prstGeom>
          <a:solidFill>
            <a:srgbClr val="403CC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599</Words>
  <Application>Microsoft Office PowerPoint</Application>
  <PresentationFormat>On-screen Show (16:9)</PresentationFormat>
  <Paragraphs>100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Libre Baskerville</vt:lpstr>
      <vt:lpstr>Open Sans</vt:lpstr>
      <vt:lpstr>Open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Jayanthi varri</dc:creator>
  <cp:lastModifiedBy>Jayanthi varri</cp:lastModifiedBy>
  <cp:revision>3</cp:revision>
  <dcterms:created xsi:type="dcterms:W3CDTF">2026-08-14T07:03:56Z</dcterms:created>
  <dcterms:modified xsi:type="dcterms:W3CDTF">2026-08-14T07:10:05Z</dcterms:modified>
</cp:coreProperties>
</file>